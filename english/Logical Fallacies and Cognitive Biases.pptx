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1" r:id="rId13"/>
    <p:sldId id="259" r:id="rId14"/>
    <p:sldId id="268" r:id="rId15"/>
    <p:sldId id="273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20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D809B-947D-4E3C-BF08-D499C165996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3C2838-B0F7-44D7-BABC-9437C2644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62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>
                  <a:alpha val="92000"/>
                </a:srgbClr>
              </a:gs>
              <a:gs pos="100000">
                <a:srgbClr val="1E3A8A">
                  <a:alpha val="88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05272" y="1819275"/>
            <a:ext cx="609584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7253" y="1663867"/>
            <a:ext cx="457188" cy="3489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76838" y="1819275"/>
            <a:ext cx="609584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95527" y="2371725"/>
            <a:ext cx="6400639" cy="1428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875"/>
              </a:lnSpc>
              <a:spcBef>
                <a:spcPts val="0"/>
              </a:spcBef>
              <a:spcAft>
                <a:spcPts val="2080"/>
              </a:spcAft>
            </a:pPr>
            <a:r>
              <a:rPr sz="3588" b="1">
                <a:solidFill>
                  <a:srgbClr val="FFFFFF"/>
                </a:solidFill>
                <a:latin typeface="Montserrat"/>
              </a:rPr>
              <a:t> Logical Fallacies and</a:t>
            </a:r>
            <a:r>
              <a:rPr sz="1104"/>
              <a:t>
</a:t>
            </a:r>
            <a:r>
              <a:rPr sz="3588" b="1">
                <a:solidFill>
                  <a:srgbClr val="FFFFFF"/>
                </a:solidFill>
                <a:latin typeface="Montserrat"/>
              </a:rPr>
              <a:t>Cognitive Biases 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8659" y="4105274"/>
            <a:ext cx="914377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5527" y="4448175"/>
            <a:ext cx="640063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1560"/>
              </a:spcAft>
            </a:pPr>
            <a:r>
              <a:rPr sz="1435" b="0">
                <a:solidFill>
                  <a:srgbClr val="E0E7FF"/>
                </a:solidFill>
                <a:latin typeface="Poppins"/>
              </a:rPr>
              <a:t>Mastering Critical Thinking for Better Decision-Making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5527" y="4981574"/>
            <a:ext cx="64006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Poppins"/>
              </a:rPr>
              <a:t>Understanding the errors in our reasoning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584" y="2590799"/>
            <a:ext cx="609584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2857500"/>
            <a:ext cx="3962300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1040"/>
              </a:spcAft>
            </a:pPr>
            <a:r>
              <a:rPr sz="287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3581400"/>
            <a:ext cx="3962300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Poppins"/>
              </a:rPr>
              <a:t>Navigating the Landscape of Flawed Reasoning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262" y="158114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3B82F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00559" y="1712595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5847" y="1676400"/>
            <a:ext cx="548626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Introduction to Logical Fallacies &amp; Cognitive Biases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262" y="357109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59E0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0559" y="3711107"/>
            <a:ext cx="228594" cy="1771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5847" y="3666340"/>
            <a:ext cx="548626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Why They Matter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262" y="2264152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3B82F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0559" y="2435602"/>
            <a:ext cx="228594" cy="114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5847" y="2359403"/>
            <a:ext cx="548626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Common Logical Fallacies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262" y="2911853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59E0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0559" y="3051870"/>
            <a:ext cx="228594" cy="177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5847" y="3007102"/>
            <a:ext cx="548626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Common Cognitive Biases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262" y="41719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3B82F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0559" y="4313396"/>
            <a:ext cx="228594" cy="17430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5847" y="4267199"/>
            <a:ext cx="548626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How to Identify and Avoid Them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150D48-2662-579B-A797-06C9F76025B3}"/>
              </a:ext>
            </a:extLst>
          </p:cNvPr>
          <p:cNvSpPr txBox="1"/>
          <p:nvPr/>
        </p:nvSpPr>
        <p:spPr>
          <a:xfrm>
            <a:off x="6095847" y="4873071"/>
            <a:ext cx="942822" cy="3268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96" b="1" dirty="0">
                <a:solidFill>
                  <a:srgbClr val="FFFFFF"/>
                </a:solidFill>
                <a:latin typeface="Poppins"/>
              </a:rPr>
              <a:t>Questions</a:t>
            </a:r>
            <a:endParaRPr sz="1196" b="1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DB47FF00-A9EE-72B4-35C9-A2C12E30C503}"/>
              </a:ext>
            </a:extLst>
          </p:cNvPr>
          <p:cNvSpPr/>
          <p:nvPr/>
        </p:nvSpPr>
        <p:spPr>
          <a:xfrm>
            <a:off x="5494651" y="4828041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59E0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6F197A-8F07-E6E7-83E8-C00E2423A6FE}"/>
              </a:ext>
            </a:extLst>
          </p:cNvPr>
          <p:cNvSpPr txBox="1"/>
          <p:nvPr/>
        </p:nvSpPr>
        <p:spPr>
          <a:xfrm>
            <a:off x="5583781" y="4907519"/>
            <a:ext cx="324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cap="none" dirty="0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584" y="1676400"/>
            <a:ext cx="609584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866899"/>
            <a:ext cx="4876678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156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What Are They?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908023"/>
            <a:ext cx="266693" cy="127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75" y="2819399"/>
            <a:ext cx="191447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59E0B"/>
                </a:solidFill>
                <a:latin typeface="Montserrat"/>
              </a:rPr>
              <a:t>Logical Fallacies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3200400"/>
            <a:ext cx="4876678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Poppins"/>
              </a:rPr>
              <a:t>Flaws in reasoning that weaken arguments and derail productive discussions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" y="4010439"/>
            <a:ext cx="266693" cy="2087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575" y="3962399"/>
            <a:ext cx="194305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B82F6"/>
                </a:solidFill>
                <a:latin typeface="Montserrat"/>
              </a:rPr>
              <a:t>Cognitive Biases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43400"/>
            <a:ext cx="4876678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Poppins"/>
              </a:rPr>
              <a:t>Systematic errors in thinking that distort judgment and decision-making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53036" y="971550"/>
            <a:ext cx="5181470" cy="3619499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53036" y="971550"/>
            <a:ext cx="5181470" cy="3619499"/>
          </a:xfrm>
          <a:prstGeom prst="roundRect">
            <a:avLst>
              <a:gd name="adj" fmla="val 4210"/>
            </a:avLst>
          </a:prstGeom>
          <a:gradFill rotWithShape="1">
            <a:gsLst>
              <a:gs pos="0">
                <a:srgbClr val="0F172A">
                  <a:alpha val="20000"/>
                </a:srgbClr>
              </a:gs>
              <a:gs pos="100000">
                <a:srgbClr val="3B82F6">
                  <a:alpha val="1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53036" y="4819650"/>
            <a:ext cx="1628734" cy="1066799"/>
          </a:xfrm>
          <a:prstGeom prst="roundRect">
            <a:avLst>
              <a:gd name="adj" fmla="val 14285"/>
            </a:avLst>
          </a:prstGeom>
          <a:solidFill>
            <a:srgbClr val="3B82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0244" y="4995496"/>
            <a:ext cx="304792" cy="2579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05432" y="5353049"/>
            <a:ext cx="1323941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E0E7FF"/>
                </a:solidFill>
                <a:latin typeface="Poppins"/>
              </a:rPr>
              <a:t>Affect Decision-Making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4166" y="4819650"/>
            <a:ext cx="1628734" cy="1066799"/>
          </a:xfrm>
          <a:prstGeom prst="roundRect">
            <a:avLst>
              <a:gd name="adj" fmla="val 14285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91375" y="5001357"/>
            <a:ext cx="304792" cy="246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86562" y="5353049"/>
            <a:ext cx="13239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EF3C7"/>
                </a:solidFill>
                <a:latin typeface="Poppins"/>
              </a:rPr>
              <a:t>Often Unconscious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5772" y="4819650"/>
            <a:ext cx="1628734" cy="1066799"/>
          </a:xfrm>
          <a:prstGeom prst="roundRect">
            <a:avLst>
              <a:gd name="adj" fmla="val 14285"/>
            </a:avLst>
          </a:prstGeom>
          <a:solidFill>
            <a:srgbClr val="3B82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772505" y="5042388"/>
            <a:ext cx="304792" cy="1641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58168" y="5353049"/>
            <a:ext cx="13239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E0E7FF"/>
                </a:solidFill>
                <a:latin typeface="Poppins"/>
              </a:rPr>
              <a:t>Can Be Overcome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>
                  <a:alpha val="85000"/>
                </a:srgbClr>
              </a:gs>
              <a:gs pos="100000">
                <a:srgbClr val="1E3A8A">
                  <a:alpha val="7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2956" y="2190069"/>
            <a:ext cx="685782" cy="30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38379" y="3067050"/>
            <a:ext cx="6514937" cy="857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1560"/>
              </a:spcAft>
            </a:pPr>
            <a:r>
              <a:rPr sz="4305" b="1">
                <a:solidFill>
                  <a:srgbClr val="FFFFFF"/>
                </a:solidFill>
                <a:latin typeface="Montserrat"/>
              </a:rPr>
              <a:t>Logical Fallacies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262" y="4152899"/>
            <a:ext cx="1219169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38379" y="4514850"/>
            <a:ext cx="651493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0">
                <a:solidFill>
                  <a:srgbClr val="E0E7FF"/>
                </a:solidFill>
                <a:latin typeface="Poppins"/>
              </a:rPr>
              <a:t>Flaws in Reasoning That Weaken Arguments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188" y="1885950"/>
            <a:ext cx="609584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188" y="2076449"/>
            <a:ext cx="3152696" cy="857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78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Common Fallacies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88" y="3047999"/>
            <a:ext cx="315269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Poppins"/>
              </a:rPr>
              <a:t>Part 1 of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88" y="3848099"/>
            <a:ext cx="3152696" cy="1123949"/>
          </a:xfrm>
          <a:prstGeom prst="roundRect">
            <a:avLst>
              <a:gd name="adj" fmla="val 13559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38746" y="4344033"/>
            <a:ext cx="1123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782" y="4038599"/>
            <a:ext cx="2733606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Poppins"/>
              </a:rPr>
              <a:t> </a:t>
            </a:r>
            <a:r>
              <a:rPr sz="956" b="1">
                <a:solidFill>
                  <a:srgbClr val="F59E0B"/>
                </a:solidFill>
                <a:latin typeface="Poppins"/>
              </a:rPr>
              <a:t>Spot them in daily life:</a:t>
            </a:r>
            <a:r>
              <a:rPr sz="956" b="0">
                <a:solidFill>
                  <a:srgbClr val="E2E8F0"/>
                </a:solidFill>
                <a:latin typeface="Poppins"/>
              </a:rPr>
              <a:t> Politics, media, social media, debates, and everyday conversations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4261" y="838200"/>
            <a:ext cx="7210244" cy="1485900"/>
          </a:xfrm>
          <a:prstGeom prst="roundRect">
            <a:avLst>
              <a:gd name="adj" fmla="val 10256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52856" y="106679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67153" y="1212532"/>
            <a:ext cx="228594" cy="1657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62440" y="1066799"/>
            <a:ext cx="614347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Ad Hominem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2440" y="1409699"/>
            <a:ext cx="614347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94A3B8"/>
                </a:solidFill>
                <a:latin typeface="Poppins"/>
              </a:rPr>
              <a:t>Attacking the person instead of their argument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2440" y="1828800"/>
            <a:ext cx="614347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0"/>
                </a:solidFill>
                <a:latin typeface="Poppins"/>
              </a:rPr>
              <a:t>"You're wrong about climate change because you're not a scientist."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4261" y="2552700"/>
            <a:ext cx="7210244" cy="1752599"/>
          </a:xfrm>
          <a:prstGeom prst="roundRect">
            <a:avLst>
              <a:gd name="adj" fmla="val 8695"/>
            </a:avLst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52856" y="27813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153" y="2901315"/>
            <a:ext cx="228594" cy="21717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62440" y="2781300"/>
            <a:ext cx="614347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Strawman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2440" y="3124200"/>
            <a:ext cx="614347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94A3B8"/>
                </a:solidFill>
                <a:latin typeface="Poppins"/>
              </a:rPr>
              <a:t>Misrepresenting the opponent's 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2440" y="3543300"/>
            <a:ext cx="6143471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0"/>
                </a:solidFill>
                <a:latin typeface="Poppins"/>
              </a:rPr>
              <a:t>"You support healthcare? So you want government control of everything."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4261" y="4533900"/>
            <a:ext cx="7210244" cy="1485900"/>
          </a:xfrm>
          <a:prstGeom prst="roundRect">
            <a:avLst>
              <a:gd name="adj" fmla="val 10256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752856" y="47625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7153" y="4888230"/>
            <a:ext cx="228594" cy="2057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62440" y="4762500"/>
            <a:ext cx="614347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Appeal to Authority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2440" y="5105400"/>
            <a:ext cx="614347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94A3B8"/>
                </a:solidFill>
                <a:latin typeface="Poppins"/>
              </a:rPr>
              <a:t>Relying on authority without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2440" y="5524499"/>
            <a:ext cx="614347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0"/>
                </a:solidFill>
                <a:latin typeface="Poppins"/>
              </a:rPr>
              <a:t>"This skincare product works because a celebrity uses it."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188" y="1981199"/>
            <a:ext cx="609584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188" y="2171700"/>
            <a:ext cx="3152696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78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More Fallacies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88" y="2705099"/>
            <a:ext cx="315269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Poppins"/>
              </a:rPr>
              <a:t>Part 2 of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88" y="3505199"/>
            <a:ext cx="3152696" cy="1371600"/>
          </a:xfrm>
          <a:prstGeom prst="roundRect">
            <a:avLst>
              <a:gd name="adj" fmla="val 11111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162572" y="4124959"/>
            <a:ext cx="1371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782" y="3695699"/>
            <a:ext cx="2733606" cy="9905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Poppins"/>
              </a:rPr>
              <a:t> </a:t>
            </a:r>
            <a:r>
              <a:rPr sz="956" b="1">
                <a:solidFill>
                  <a:srgbClr val="F59E0B"/>
                </a:solidFill>
                <a:latin typeface="Poppins"/>
              </a:rPr>
              <a:t>Watch for these patterns:</a:t>
            </a:r>
            <a:r>
              <a:rPr sz="956" b="0">
                <a:solidFill>
                  <a:srgbClr val="E2E8F0"/>
                </a:solidFill>
                <a:latin typeface="Poppins"/>
              </a:rPr>
              <a:t> Unrealistic predictions, self-referencing arguments, and overbroad conclusions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4261" y="838200"/>
            <a:ext cx="7210244" cy="1752599"/>
          </a:xfrm>
          <a:prstGeom prst="roundRect">
            <a:avLst>
              <a:gd name="adj" fmla="val 8695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52856" y="106679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67153" y="1232535"/>
            <a:ext cx="228594" cy="1257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62440" y="1066799"/>
            <a:ext cx="614347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Slippery Slope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2440" y="1409699"/>
            <a:ext cx="614347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94A3B8"/>
                </a:solidFill>
                <a:latin typeface="Poppins"/>
              </a:rPr>
              <a:t>Assuming one action leads to extreme consequences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2440" y="1828800"/>
            <a:ext cx="6143471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0"/>
                </a:solidFill>
                <a:latin typeface="Poppins"/>
              </a:rPr>
              <a:t>"If we allow students to redo assignments, they'll never learn responsibility, and society will fall apart."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4261" y="2819399"/>
            <a:ext cx="7210244" cy="1485900"/>
          </a:xfrm>
          <a:prstGeom prst="roundRect">
            <a:avLst>
              <a:gd name="adj" fmla="val 10256"/>
            </a:avLst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52856" y="304799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153" y="3193732"/>
            <a:ext cx="228594" cy="16573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62440" y="3047999"/>
            <a:ext cx="614347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Circular Reasoning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2440" y="3390899"/>
            <a:ext cx="614347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94A3B8"/>
                </a:solidFill>
                <a:latin typeface="Poppins"/>
              </a:rPr>
              <a:t>Using the conclusion as evidence for the argument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2440" y="3782087"/>
            <a:ext cx="2946576" cy="3225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CBD5E0"/>
                </a:solidFill>
                <a:latin typeface="Poppins"/>
              </a:rPr>
              <a:t>"The law is</a:t>
            </a:r>
            <a:r>
              <a:rPr lang="en-US" sz="1076" b="0" dirty="0">
                <a:solidFill>
                  <a:srgbClr val="CBD5E0"/>
                </a:solidFill>
                <a:latin typeface="Poppins"/>
              </a:rPr>
              <a:t> right</a:t>
            </a:r>
            <a:r>
              <a:rPr sz="1076" b="0" dirty="0">
                <a:solidFill>
                  <a:srgbClr val="CBD5E0"/>
                </a:solidFill>
                <a:latin typeface="Poppins"/>
              </a:rPr>
              <a:t> just because it's the law."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4261" y="4533900"/>
            <a:ext cx="7210244" cy="1485900"/>
          </a:xfrm>
          <a:prstGeom prst="roundRect">
            <a:avLst>
              <a:gd name="adj" fmla="val 10256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752856" y="47625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7153" y="4928234"/>
            <a:ext cx="228594" cy="12572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62440" y="4762500"/>
            <a:ext cx="614347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Hasty Generalization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2440" y="5105400"/>
            <a:ext cx="614347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94A3B8"/>
                </a:solidFill>
                <a:latin typeface="Poppins"/>
              </a:rPr>
              <a:t>Jumping to conclusions from limited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2440" y="5524499"/>
            <a:ext cx="614347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0"/>
                </a:solidFill>
                <a:latin typeface="Poppins"/>
              </a:rPr>
              <a:t>"My neighbor's cat is mean. All cats must be mean."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0990" y="2000250"/>
            <a:ext cx="609584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0990" y="2190749"/>
            <a:ext cx="2285942" cy="714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78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Additional Fallacies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3009900"/>
            <a:ext cx="228594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Poppins"/>
              </a:rPr>
              <a:t>Part 3 of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990" y="3809999"/>
            <a:ext cx="2285942" cy="1047749"/>
          </a:xfrm>
          <a:prstGeom prst="roundRect">
            <a:avLst>
              <a:gd name="adj" fmla="val 14545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76844" y="4267833"/>
            <a:ext cx="10477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485" y="3962399"/>
            <a:ext cx="1943051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Poppins"/>
              </a:rPr>
              <a:t> </a:t>
            </a:r>
            <a:r>
              <a:rPr sz="956" b="1">
                <a:solidFill>
                  <a:srgbClr val="F59E0B"/>
                </a:solidFill>
                <a:latin typeface="Poppins"/>
              </a:rPr>
              <a:t>Master these to:</a:t>
            </a:r>
            <a:r>
              <a:rPr sz="956" b="0">
                <a:solidFill>
                  <a:srgbClr val="E2E8F0"/>
                </a:solidFill>
                <a:latin typeface="Poppins"/>
              </a:rPr>
              <a:t> Avoid manipulation and make clearer arguments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8914" y="1600200"/>
            <a:ext cx="4095647" cy="1485900"/>
          </a:xfrm>
          <a:prstGeom prst="roundRect">
            <a:avLst>
              <a:gd name="adj" fmla="val 10256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19409" y="17907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14657" y="1919567"/>
            <a:ext cx="190495" cy="123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697" y="1790700"/>
            <a:ext cx="321936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False Dilemma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697" y="2095499"/>
            <a:ext cx="321936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Poppins"/>
              </a:rPr>
              <a:t>Limiting options to only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409" y="2438400"/>
            <a:ext cx="371465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0"/>
                </a:solidFill>
                <a:latin typeface="Poppins"/>
              </a:rPr>
              <a:t>"You're either with us or against us."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15057" y="1600200"/>
            <a:ext cx="4095647" cy="1485900"/>
          </a:xfrm>
          <a:prstGeom prst="roundRect">
            <a:avLst>
              <a:gd name="adj" fmla="val 10256"/>
            </a:avLst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05552" y="17907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799" y="1902758"/>
            <a:ext cx="190495" cy="15688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00839" y="1790700"/>
            <a:ext cx="321936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Red Herring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0839" y="2095499"/>
            <a:ext cx="321936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Poppins"/>
              </a:rPr>
              <a:t>Changing the subject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552" y="2438400"/>
            <a:ext cx="3714657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0"/>
                </a:solidFill>
                <a:latin typeface="Poppins"/>
              </a:rPr>
              <a:t>"Why worry about healthcare when we have crime?"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36667" y="3276599"/>
            <a:ext cx="8381790" cy="1257300"/>
          </a:xfrm>
          <a:prstGeom prst="roundRect">
            <a:avLst>
              <a:gd name="adj" fmla="val 12121"/>
            </a:avLst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627162" y="34671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2409" y="3580559"/>
            <a:ext cx="190495" cy="1540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122449" y="3467100"/>
            <a:ext cx="321936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Appeal to Emotion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22449" y="3771900"/>
            <a:ext cx="321936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Poppins"/>
              </a:rPr>
              <a:t>Manipulating feelings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7162" y="4114800"/>
            <a:ext cx="371465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0"/>
                </a:solidFill>
                <a:latin typeface="Poppins"/>
              </a:rPr>
              <a:t>"If you care about family, buy this insurance."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8914" y="4724399"/>
            <a:ext cx="8381790" cy="533399"/>
          </a:xfrm>
          <a:prstGeom prst="roundRect">
            <a:avLst>
              <a:gd name="adj" fmla="val 28571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3228255" y="4925058"/>
            <a:ext cx="533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19409" y="4876800"/>
            <a:ext cx="803889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Poppins"/>
              </a:rPr>
              <a:t> </a:t>
            </a:r>
            <a:r>
              <a:rPr sz="956" b="1">
                <a:solidFill>
                  <a:srgbClr val="3B82F6"/>
                </a:solidFill>
                <a:latin typeface="Poppins"/>
              </a:rPr>
              <a:t>Common in:</a:t>
            </a:r>
            <a:r>
              <a:rPr sz="956" b="0">
                <a:solidFill>
                  <a:srgbClr val="E2E8F0"/>
                </a:solidFill>
                <a:latin typeface="Poppins"/>
              </a:rPr>
              <a:t> Advertising, politics, social media, and debates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>
                  <a:alpha val="92000"/>
                </a:srgbClr>
              </a:gs>
              <a:gs pos="100000">
                <a:srgbClr val="1E3A8A">
                  <a:alpha val="88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38659" y="1562100"/>
            <a:ext cx="914377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124121" y="1904999"/>
            <a:ext cx="5943451" cy="857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2080"/>
              </a:spcAft>
            </a:pPr>
            <a:r>
              <a:rPr sz="4305" b="1">
                <a:solidFill>
                  <a:srgbClr val="FFFFFF"/>
                </a:solidFill>
                <a:latin typeface="Montserrat"/>
              </a:rPr>
              <a:t>Cognitive Biases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262" y="3067050"/>
            <a:ext cx="1219169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24121" y="3409950"/>
            <a:ext cx="5943451" cy="9334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794" b="0">
                <a:solidFill>
                  <a:srgbClr val="E2E8F0"/>
                </a:solidFill>
                <a:latin typeface="Poppins"/>
              </a:rPr>
              <a:t> Systematic Errors in Thinking</a:t>
            </a:r>
            <a:r>
              <a:rPr sz="1104"/>
              <a:t>
</a:t>
            </a:r>
            <a:r>
              <a:rPr sz="1794" b="0">
                <a:solidFill>
                  <a:srgbClr val="E2E8F0"/>
                </a:solidFill>
                <a:latin typeface="Poppins"/>
              </a:rPr>
              <a:t>That Distort Judgment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7073" y="4800600"/>
            <a:ext cx="1800179" cy="495299"/>
          </a:xfrm>
          <a:prstGeom prst="roundRect">
            <a:avLst>
              <a:gd name="adj" fmla="val 30769"/>
            </a:avLst>
          </a:prstGeom>
          <a:solidFill>
            <a:srgbClr val="3B82F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5667" y="4943889"/>
            <a:ext cx="266693" cy="2087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76658" y="4914900"/>
            <a:ext cx="96200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150+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045" y="4800600"/>
            <a:ext cx="1962100" cy="495299"/>
          </a:xfrm>
          <a:prstGeom prst="roundRect">
            <a:avLst>
              <a:gd name="adj" fmla="val 30769"/>
            </a:avLst>
          </a:prstGeom>
          <a:solidFill>
            <a:srgbClr val="F59E0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639" y="4939540"/>
            <a:ext cx="266693" cy="2174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81630" y="4914900"/>
            <a:ext cx="112392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Unconscious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188" y="2095499"/>
            <a:ext cx="609584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188" y="2286000"/>
            <a:ext cx="3152696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78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Common Biases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88" y="2838450"/>
            <a:ext cx="315269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Poppins"/>
              </a:rPr>
              <a:t>Part 1 of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4261" y="971550"/>
            <a:ext cx="7210244" cy="1485900"/>
          </a:xfrm>
          <a:prstGeom prst="roundRect">
            <a:avLst>
              <a:gd name="adj" fmla="val 10256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52856" y="12001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67153" y="1331595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62440" y="1200150"/>
            <a:ext cx="614347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Confirmation Bias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2440" y="1543050"/>
            <a:ext cx="614347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94A3B8"/>
                </a:solidFill>
                <a:latin typeface="Poppins"/>
              </a:rPr>
              <a:t>Favoring information that confirms existing beliefs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2440" y="1962149"/>
            <a:ext cx="614347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0"/>
                </a:solidFill>
                <a:latin typeface="Poppins"/>
              </a:rPr>
              <a:t>"I only follow news sources that reinforce my views."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4261" y="2686050"/>
            <a:ext cx="7210244" cy="1485900"/>
          </a:xfrm>
          <a:prstGeom prst="roundRect">
            <a:avLst>
              <a:gd name="adj" fmla="val 10256"/>
            </a:avLst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52856" y="29146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153" y="3046095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62440" y="2914650"/>
            <a:ext cx="614347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Hindsight Bias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2440" y="3257550"/>
            <a:ext cx="614347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94A3B8"/>
                </a:solidFill>
                <a:latin typeface="Poppins"/>
              </a:rPr>
              <a:t>Seeing events as more predictable after they happen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2440" y="3676649"/>
            <a:ext cx="614347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0"/>
                </a:solidFill>
                <a:latin typeface="Poppins"/>
              </a:rPr>
              <a:t>"I knew it all along!" (after seeing the outcome)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0990" y="2171700"/>
            <a:ext cx="609584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0990" y="2362199"/>
            <a:ext cx="2285942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78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More Biases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2838450"/>
            <a:ext cx="228594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Poppins"/>
              </a:rPr>
              <a:t>Part 2 of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990" y="3638550"/>
            <a:ext cx="2285942" cy="1047749"/>
          </a:xfrm>
          <a:prstGeom prst="roundRect">
            <a:avLst>
              <a:gd name="adj" fmla="val 14545"/>
            </a:avLst>
          </a:prstGeom>
          <a:solidFill>
            <a:srgbClr val="3B82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76844" y="4096384"/>
            <a:ext cx="10477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485" y="3790949"/>
            <a:ext cx="1943051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Poppins"/>
              </a:rPr>
              <a:t> </a:t>
            </a:r>
            <a:r>
              <a:rPr sz="956" b="1">
                <a:solidFill>
                  <a:srgbClr val="3B82F6"/>
                </a:solidFill>
                <a:latin typeface="Poppins"/>
              </a:rPr>
              <a:t>Shape our reality:</a:t>
            </a:r>
            <a:r>
              <a:rPr sz="956" b="0">
                <a:solidFill>
                  <a:srgbClr val="E2E8F0"/>
                </a:solidFill>
                <a:latin typeface="Poppins"/>
              </a:rPr>
              <a:t> How we remember, judge, and interact with others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5056" y="1619250"/>
            <a:ext cx="8365648" cy="1447800"/>
          </a:xfrm>
          <a:prstGeom prst="roundRect">
            <a:avLst>
              <a:gd name="adj" fmla="val 10526"/>
            </a:avLst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35551" y="180974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0798" y="1930213"/>
            <a:ext cx="190495" cy="1400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30838" y="1809749"/>
            <a:ext cx="321936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Actor-Observer Bias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0838" y="2114550"/>
            <a:ext cx="3219369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Poppins"/>
              </a:rPr>
              <a:t>Attribute our actions to external factors, others to internal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5551" y="2647949"/>
            <a:ext cx="371465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0"/>
                </a:solidFill>
                <a:latin typeface="Poppins"/>
              </a:rPr>
              <a:t>"I'm late because of traffic, they're lazy"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94722" y="3257550"/>
            <a:ext cx="8381790" cy="1257300"/>
          </a:xfrm>
          <a:prstGeom prst="roundRect">
            <a:avLst>
              <a:gd name="adj" fmla="val 12121"/>
            </a:avLst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585217" y="344804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0464" y="3557307"/>
            <a:ext cx="190495" cy="1624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080504" y="3448049"/>
            <a:ext cx="321936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Halo Effect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80504" y="3752849"/>
            <a:ext cx="321936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Poppins"/>
              </a:rPr>
              <a:t>Overall impression influences judgment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5217" y="4095749"/>
            <a:ext cx="371465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0"/>
                </a:solidFill>
                <a:latin typeface="Poppins"/>
              </a:rPr>
              <a:t>"Attractive people rated more favorably"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8914" y="4705350"/>
            <a:ext cx="8381790" cy="533399"/>
          </a:xfrm>
          <a:prstGeom prst="roundRect">
            <a:avLst>
              <a:gd name="adj" fmla="val 28571"/>
            </a:avLst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3228255" y="4906009"/>
            <a:ext cx="533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19409" y="4857750"/>
            <a:ext cx="803889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Poppins"/>
              </a:rPr>
              <a:t> </a:t>
            </a:r>
            <a:r>
              <a:rPr sz="956" b="1">
                <a:solidFill>
                  <a:srgbClr val="F59E0B"/>
                </a:solidFill>
                <a:latin typeface="Poppins"/>
              </a:rPr>
              <a:t>Impact areas:</a:t>
            </a:r>
            <a:r>
              <a:rPr sz="956" b="0">
                <a:solidFill>
                  <a:srgbClr val="E2E8F0"/>
                </a:solidFill>
                <a:latin typeface="Poppins"/>
              </a:rPr>
              <a:t> Memory, relationships, hiring, and social interactions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188" y="2095499"/>
            <a:ext cx="609584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188" y="2286000"/>
            <a:ext cx="3152696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78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Additional Biases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88" y="2838450"/>
            <a:ext cx="315269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Poppins"/>
              </a:rPr>
              <a:t>Part 3 of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88" y="3638550"/>
            <a:ext cx="3152696" cy="1123949"/>
          </a:xfrm>
          <a:prstGeom prst="roundRect">
            <a:avLst>
              <a:gd name="adj" fmla="val 13559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38746" y="4134484"/>
            <a:ext cx="1123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782" y="3829050"/>
            <a:ext cx="2733606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Poppins"/>
              </a:rPr>
              <a:t> </a:t>
            </a:r>
            <a:r>
              <a:rPr sz="956" b="1">
                <a:solidFill>
                  <a:srgbClr val="F59E0B"/>
                </a:solidFill>
                <a:latin typeface="Poppins"/>
              </a:rPr>
              <a:t>Universal patterns:</a:t>
            </a:r>
            <a:r>
              <a:rPr sz="956" b="0">
                <a:solidFill>
                  <a:srgbClr val="E2E8F0"/>
                </a:solidFill>
                <a:latin typeface="Poppins"/>
              </a:rPr>
              <a:t> Affect self-perception, learning, and emotional responses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4261" y="971550"/>
            <a:ext cx="7210244" cy="1485900"/>
          </a:xfrm>
          <a:prstGeom prst="roundRect">
            <a:avLst>
              <a:gd name="adj" fmla="val 10256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52856" y="12001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67153" y="1340167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62440" y="1200150"/>
            <a:ext cx="614347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Self-serving Bias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2440" y="1543050"/>
            <a:ext cx="614347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94A3B8"/>
                </a:solidFill>
                <a:latin typeface="Poppins"/>
              </a:rPr>
              <a:t>Claiming success but not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2440" y="1962149"/>
            <a:ext cx="614347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0"/>
                </a:solidFill>
                <a:latin typeface="Poppins"/>
              </a:rPr>
              <a:t>"I won because I'm smart, I lost because the referee was unfair."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4261" y="2686050"/>
            <a:ext cx="7210244" cy="1485900"/>
          </a:xfrm>
          <a:prstGeom prst="roundRect">
            <a:avLst>
              <a:gd name="adj" fmla="val 10256"/>
            </a:avLst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52856" y="29146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153" y="3080384"/>
            <a:ext cx="228594" cy="12572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62440" y="2914650"/>
            <a:ext cx="614347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Dunning-Kruger Effect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2440" y="3257550"/>
            <a:ext cx="614347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94A3B8"/>
                </a:solidFill>
                <a:latin typeface="Poppins"/>
              </a:rPr>
              <a:t>Unskilled overestimate ability, experts underestimate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2440" y="3676649"/>
            <a:ext cx="614347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0"/>
                </a:solidFill>
                <a:latin typeface="Poppins"/>
              </a:rPr>
              <a:t>"Novices think they know everything."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4261" y="4400550"/>
            <a:ext cx="7210244" cy="1485900"/>
          </a:xfrm>
          <a:prstGeom prst="roundRect">
            <a:avLst>
              <a:gd name="adj" fmla="val 10256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752856" y="46291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7153" y="4764881"/>
            <a:ext cx="228594" cy="18573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62440" y="4629150"/>
            <a:ext cx="614347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Negativity Bias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2440" y="4972050"/>
            <a:ext cx="614347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94A3B8"/>
                </a:solidFill>
                <a:latin typeface="Poppins"/>
              </a:rPr>
              <a:t>Negative information has stronger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2440" y="5391150"/>
            <a:ext cx="614347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0"/>
                </a:solidFill>
                <a:latin typeface="Poppins"/>
              </a:rPr>
              <a:t>"One criticism outweighs five compliments."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892BC-2035-1623-9B57-381733812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49440E-6C53-96FA-9D19-091D50E1AB6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760AAA-77B3-0E3E-5166-DABF58213AF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>
                  <a:alpha val="92000"/>
                </a:srgbClr>
              </a:gs>
              <a:gs pos="100000">
                <a:srgbClr val="1E3A8A">
                  <a:alpha val="88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9A3393-13BE-0B26-79E0-65F5C335D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034" y="390758"/>
            <a:ext cx="9787626" cy="607648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6C8FFDC-87A6-A192-E43A-DFD7C17033D4}"/>
              </a:ext>
            </a:extLst>
          </p:cNvPr>
          <p:cNvSpPr/>
          <p:nvPr/>
        </p:nvSpPr>
        <p:spPr>
          <a:xfrm>
            <a:off x="7961152" y="5234730"/>
            <a:ext cx="1988192" cy="4530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Mejor Grande del Mundo</a:t>
            </a:r>
          </a:p>
        </p:txBody>
      </p:sp>
    </p:spTree>
    <p:extLst>
      <p:ext uri="{BB962C8B-B14F-4D97-AF65-F5344CB8AC3E}">
        <p14:creationId xmlns:p14="http://schemas.microsoft.com/office/powerpoint/2010/main" val="181244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584" y="933449"/>
            <a:ext cx="609584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123949"/>
            <a:ext cx="3657508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104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Why They Matter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924049"/>
            <a:ext cx="3657508" cy="4000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262" y="1104900"/>
            <a:ext cx="6095847" cy="990599"/>
          </a:xfrm>
          <a:prstGeom prst="roundRect">
            <a:avLst>
              <a:gd name="adj" fmla="val 15384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76758" y="12953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104" y="1457739"/>
            <a:ext cx="266693" cy="2087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62540" y="1371600"/>
            <a:ext cx="502907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Improve Critical Thinking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2540" y="1676400"/>
            <a:ext cx="502907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Poppins"/>
              </a:rPr>
              <a:t>Develop sharper analytical skills and clearer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262" y="2286000"/>
            <a:ext cx="6095847" cy="990599"/>
          </a:xfrm>
          <a:prstGeom prst="roundRect">
            <a:avLst>
              <a:gd name="adj" fmla="val 15384"/>
            </a:avLst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76758" y="24764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104" y="2630142"/>
            <a:ext cx="266693" cy="2261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62540" y="2552700"/>
            <a:ext cx="502907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Make Better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540" y="2857500"/>
            <a:ext cx="502907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Poppins"/>
              </a:rPr>
              <a:t>Choose more rationally and avoid costly mistakes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262" y="3467100"/>
            <a:ext cx="6095847" cy="990599"/>
          </a:xfrm>
          <a:prstGeom prst="roundRect">
            <a:avLst>
              <a:gd name="adj" fmla="val 15384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76758" y="365760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0104" y="3799646"/>
            <a:ext cx="266693" cy="24930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62540" y="3733799"/>
            <a:ext cx="502907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Avoid Manipulation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2540" y="4038599"/>
            <a:ext cx="502907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Poppins"/>
              </a:rPr>
              <a:t>Recognize when others use fallacies to mislead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262" y="4648200"/>
            <a:ext cx="2971725" cy="1104900"/>
          </a:xfrm>
          <a:prstGeom prst="roundRect">
            <a:avLst>
              <a:gd name="adj" fmla="val 13793"/>
            </a:avLst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638659" y="48006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52956" y="4932044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10144" y="4838699"/>
            <a:ext cx="2095447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Communicate Effectively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0144" y="5410199"/>
            <a:ext cx="209544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Poppins"/>
              </a:rPr>
              <a:t>Persuade with logic, not tricks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10384" y="4648200"/>
            <a:ext cx="2971725" cy="1104900"/>
          </a:xfrm>
          <a:prstGeom prst="roundRect">
            <a:avLst>
              <a:gd name="adj" fmla="val 13793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762780" y="48006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77078" y="4939188"/>
            <a:ext cx="228594" cy="18002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334266" y="4838699"/>
            <a:ext cx="209544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Reduce Conflicts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4266" y="5143500"/>
            <a:ext cx="2095447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Poppins"/>
              </a:rPr>
              <a:t>Understand different perspectives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188" y="657225"/>
            <a:ext cx="609584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F59E0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188" y="847724"/>
            <a:ext cx="3962300" cy="857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78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How to Identify &amp;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88" y="1819275"/>
            <a:ext cx="396230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Poppins"/>
              </a:rPr>
              <a:t>Practical Strategies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88" y="2543175"/>
            <a:ext cx="3962300" cy="26670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188" y="5438774"/>
            <a:ext cx="3962300" cy="761999"/>
          </a:xfrm>
          <a:prstGeom prst="roundRect">
            <a:avLst>
              <a:gd name="adj" fmla="val 20000"/>
            </a:avLst>
          </a:prstGeom>
          <a:solidFill>
            <a:srgbClr val="3B82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142229" y="575373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683" y="5591175"/>
            <a:ext cx="3619409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Poppins"/>
              </a:rPr>
              <a:t>Awareness is the first step toward better thinking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81470" y="1600200"/>
            <a:ext cx="3200319" cy="800100"/>
          </a:xfrm>
          <a:prstGeom prst="roundRect">
            <a:avLst>
              <a:gd name="adj" fmla="val 19047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33866" y="175259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9114" y="1861857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29154" y="1752599"/>
            <a:ext cx="215259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Be Aware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9154" y="2057400"/>
            <a:ext cx="215259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Poppins"/>
              </a:rPr>
              <a:t>Acknowledge we all have biases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34186" y="1600200"/>
            <a:ext cx="3200319" cy="800100"/>
          </a:xfrm>
          <a:prstGeom prst="roundRect">
            <a:avLst>
              <a:gd name="adj" fmla="val 19047"/>
            </a:avLst>
          </a:prstGeom>
          <a:solidFill>
            <a:srgbClr val="F59E0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686582" y="175259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81830" y="186185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81870" y="1752599"/>
            <a:ext cx="193352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Question Beliefs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1870" y="2057400"/>
            <a:ext cx="193352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Poppins"/>
              </a:rPr>
              <a:t>Challenge your own opinions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81470" y="2552700"/>
            <a:ext cx="3200319" cy="800100"/>
          </a:xfrm>
          <a:prstGeom prst="roundRect">
            <a:avLst>
              <a:gd name="adj" fmla="val 19047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333866" y="270509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9114" y="2825563"/>
            <a:ext cx="190495" cy="1400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29154" y="2705099"/>
            <a:ext cx="154301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Seek Diversity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29154" y="3009900"/>
            <a:ext cx="154301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Poppins"/>
              </a:rPr>
              <a:t>Explore opposing views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34186" y="2552700"/>
            <a:ext cx="3200319" cy="800100"/>
          </a:xfrm>
          <a:prstGeom prst="roundRect">
            <a:avLst>
              <a:gd name="adj" fmla="val 19047"/>
            </a:avLst>
          </a:prstGeom>
          <a:solidFill>
            <a:srgbClr val="F59E0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686582" y="270509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81830" y="2819960"/>
            <a:ext cx="190495" cy="15127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81870" y="2705099"/>
            <a:ext cx="189542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Gather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1870" y="3009900"/>
            <a:ext cx="189542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Poppins"/>
              </a:rPr>
              <a:t>Evidence before conclusions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81470" y="3505199"/>
            <a:ext cx="3200319" cy="800100"/>
          </a:xfrm>
          <a:prstGeom prst="roundRect">
            <a:avLst>
              <a:gd name="adj" fmla="val 19047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333866" y="36576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9114" y="3769658"/>
            <a:ext cx="190495" cy="15688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29154" y="3657600"/>
            <a:ext cx="196210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Focus on Logic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9154" y="3962399"/>
            <a:ext cx="196210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Poppins"/>
              </a:rPr>
              <a:t>Over emotional manipulation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34186" y="3505199"/>
            <a:ext cx="3200319" cy="800100"/>
          </a:xfrm>
          <a:prstGeom prst="roundRect">
            <a:avLst>
              <a:gd name="adj" fmla="val 19047"/>
            </a:avLst>
          </a:prstGeom>
          <a:solidFill>
            <a:srgbClr val="F59E0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686582" y="36576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781830" y="3758452"/>
            <a:ext cx="190495" cy="17929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181870" y="3657600"/>
            <a:ext cx="180017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Be Flexible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1870" y="3962399"/>
            <a:ext cx="180017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Poppins"/>
              </a:rPr>
              <a:t>Practice cognitive flexibility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81470" y="4457700"/>
            <a:ext cx="3200319" cy="800100"/>
          </a:xfrm>
          <a:prstGeom prst="roundRect">
            <a:avLst>
              <a:gd name="adj" fmla="val 19047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333866" y="461009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29114" y="4731963"/>
            <a:ext cx="190495" cy="13727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829154" y="4610099"/>
            <a:ext cx="14382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Slow Down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29154" y="4914900"/>
            <a:ext cx="143823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Poppins"/>
              </a:rPr>
              <a:t>Think before deciding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34186" y="4457700"/>
            <a:ext cx="3200319" cy="800100"/>
          </a:xfrm>
          <a:prstGeom prst="roundRect">
            <a:avLst>
              <a:gd name="adj" fmla="val 19047"/>
            </a:avLst>
          </a:prstGeom>
          <a:solidFill>
            <a:srgbClr val="F59E0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686582" y="461009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781830" y="4724960"/>
            <a:ext cx="190495" cy="15127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181870" y="4610099"/>
            <a:ext cx="179065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Learn from Mistakes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1870" y="4914900"/>
            <a:ext cx="179065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Poppins"/>
              </a:rPr>
              <a:t>Growth through errors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1533525" y="2399407"/>
            <a:ext cx="9124950" cy="1782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first principle is that you must not fool yourself — and you are the person easiest to fool.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81025" y="4639419"/>
            <a:ext cx="11029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— Richard Feynman, Nobel Laureate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962025" y="2208907"/>
            <a:ext cx="485775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1DA16-F8AF-F7A7-BFD8-A6F71CFBC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8A5114-467F-C8DF-1AD7-F5A43208978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2FD31C-6CE0-25CF-A0BF-4BBF7537520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>
                  <a:alpha val="92000"/>
                </a:srgbClr>
              </a:gs>
              <a:gs pos="100000">
                <a:srgbClr val="1E3A8A">
                  <a:alpha val="88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675A65C-6A00-2332-6068-E1E38E8A644E}"/>
              </a:ext>
            </a:extLst>
          </p:cNvPr>
          <p:cNvSpPr/>
          <p:nvPr/>
        </p:nvSpPr>
        <p:spPr>
          <a:xfrm>
            <a:off x="5714857" y="1009649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62102EE7-9525-678A-4E17-405CB9C293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7253" y="1198144"/>
            <a:ext cx="457188" cy="3850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153B39-2C91-4B1D-980B-DDCE5AE58AC2}"/>
              </a:ext>
            </a:extLst>
          </p:cNvPr>
          <p:cNvSpPr txBox="1"/>
          <p:nvPr/>
        </p:nvSpPr>
        <p:spPr>
          <a:xfrm>
            <a:off x="2438339" y="2076449"/>
            <a:ext cx="7315017" cy="857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1560"/>
              </a:spcAft>
            </a:pPr>
            <a:r>
              <a:rPr sz="4305" b="1">
                <a:solidFill>
                  <a:srgbClr val="FFFFFF"/>
                </a:solidFill>
                <a:latin typeface="Montserrat"/>
              </a:rPr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64E8CF-E8D1-33C7-8E43-C9A4549706FA}"/>
              </a:ext>
            </a:extLst>
          </p:cNvPr>
          <p:cNvSpPr/>
          <p:nvPr/>
        </p:nvSpPr>
        <p:spPr>
          <a:xfrm>
            <a:off x="5486262" y="3162299"/>
            <a:ext cx="1219169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F59E0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9CA356-CF8B-B5B9-4BD7-347B7335D74E}"/>
              </a:ext>
            </a:extLst>
          </p:cNvPr>
          <p:cNvSpPr txBox="1"/>
          <p:nvPr/>
        </p:nvSpPr>
        <p:spPr>
          <a:xfrm>
            <a:off x="2438339" y="3505199"/>
            <a:ext cx="731501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040"/>
              </a:spcAft>
            </a:pPr>
            <a:r>
              <a:rPr sz="1794" b="1">
                <a:solidFill>
                  <a:srgbClr val="E2E8F0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6161AA-154E-DF5F-652F-1DC82B210F59}"/>
              </a:ext>
            </a:extLst>
          </p:cNvPr>
          <p:cNvSpPr txBox="1"/>
          <p:nvPr/>
        </p:nvSpPr>
        <p:spPr>
          <a:xfrm>
            <a:off x="2438339" y="4305300"/>
            <a:ext cx="7315017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3120"/>
              </a:spcBef>
              <a:spcAft>
                <a:spcPts val="0"/>
              </a:spcAft>
            </a:pPr>
            <a:r>
              <a:rPr sz="1196" b="0">
                <a:solidFill>
                  <a:srgbClr val="94A3B8"/>
                </a:solidFill>
                <a:latin typeface="Poppins"/>
              </a:rPr>
              <a:t>Mastering critical thinking is a journey, not a destination. Stay curious, question assumptions, and keep learning.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D69E81A-E7B7-4A31-97F1-592577C9793F}"/>
              </a:ext>
            </a:extLst>
          </p:cNvPr>
          <p:cNvSpPr/>
          <p:nvPr/>
        </p:nvSpPr>
        <p:spPr>
          <a:xfrm>
            <a:off x="3990875" y="5391150"/>
            <a:ext cx="1952576" cy="457200"/>
          </a:xfrm>
          <a:prstGeom prst="roundRect">
            <a:avLst>
              <a:gd name="adj" fmla="val 33333"/>
            </a:avLst>
          </a:prstGeom>
          <a:solidFill>
            <a:srgbClr val="3B82F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348831A4-DF37-7CEE-AFC6-F17E764DC54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9469" y="5531167"/>
            <a:ext cx="228594" cy="1771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9DAF70-E7F1-C358-E711-D2BCF1270BC9}"/>
              </a:ext>
            </a:extLst>
          </p:cNvPr>
          <p:cNvSpPr txBox="1"/>
          <p:nvPr/>
        </p:nvSpPr>
        <p:spPr>
          <a:xfrm>
            <a:off x="4562360" y="5505450"/>
            <a:ext cx="115249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Poppins"/>
              </a:rPr>
              <a:t>Think Critically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2363E96-4EBE-D106-C380-2B129DAE9234}"/>
              </a:ext>
            </a:extLst>
          </p:cNvPr>
          <p:cNvSpPr/>
          <p:nvPr/>
        </p:nvSpPr>
        <p:spPr>
          <a:xfrm>
            <a:off x="6172045" y="5391150"/>
            <a:ext cx="2028774" cy="457200"/>
          </a:xfrm>
          <a:prstGeom prst="roundRect">
            <a:avLst>
              <a:gd name="adj" fmla="val 33333"/>
            </a:avLst>
          </a:prstGeom>
          <a:solidFill>
            <a:srgbClr val="F59E0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D46CE1F3-B018-A60F-4364-B0EB7F2A204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0639" y="5556884"/>
            <a:ext cx="228594" cy="1257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EBCAB9D-9D11-0371-0EF3-C7DDA59FE8E8}"/>
              </a:ext>
            </a:extLst>
          </p:cNvPr>
          <p:cNvSpPr txBox="1"/>
          <p:nvPr/>
        </p:nvSpPr>
        <p:spPr>
          <a:xfrm>
            <a:off x="6743531" y="5505450"/>
            <a:ext cx="122869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Poppins"/>
              </a:rPr>
              <a:t>Keep Improving</a:t>
            </a:r>
          </a:p>
        </p:txBody>
      </p:sp>
    </p:spTree>
    <p:extLst>
      <p:ext uri="{BB962C8B-B14F-4D97-AF65-F5344CB8AC3E}">
        <p14:creationId xmlns:p14="http://schemas.microsoft.com/office/powerpoint/2010/main" val="330997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711</Words>
  <Application>Microsoft Office PowerPoint</Application>
  <PresentationFormat>Widescreen</PresentationFormat>
  <Paragraphs>132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 Unicode MS</vt:lpstr>
      <vt:lpstr>Aptos</vt:lpstr>
      <vt:lpstr>Arial</vt:lpstr>
      <vt:lpstr>Calibri</vt:lpstr>
      <vt:lpstr>Lato</vt:lpstr>
      <vt:lpstr>Montserrat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moustafa ahmed</cp:lastModifiedBy>
  <cp:revision>5</cp:revision>
  <dcterms:created xsi:type="dcterms:W3CDTF">2013-01-27T09:14:16Z</dcterms:created>
  <dcterms:modified xsi:type="dcterms:W3CDTF">2026-01-05T13:54:22Z</dcterms:modified>
  <cp:category/>
</cp:coreProperties>
</file>